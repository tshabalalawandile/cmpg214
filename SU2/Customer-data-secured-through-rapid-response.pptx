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Lst>
  <p:notesMasterIdLst>
    <p:notesMasterId r:id="rId4"/>
  </p:notesMasterIdLst>
  <p:sldSz cx="14630400" cy="8229600"/>
  <p:notesSz cx="8229600" cy="14630400"/>
  <p:embeddedFontLst>
    <p:embeddedFont>
      <p:font typeface="Hubot Sans"/>
      <p:regular r:id="rId9"/>
    </p:embeddedFont>
    <p:embeddedFont>
      <p:font typeface="Hubot Sans"/>
      <p:regular r:id="rId10"/>
    </p:embeddedFont>
    <p:embeddedFont>
      <p:font typeface="Roboto Condensed"/>
      <p:regular r:id="rId11"/>
    </p:embeddedFont>
    <p:embeddedFont>
      <p:font typeface="Roboto Condensed"/>
      <p:regular r:id="rId12"/>
    </p:embeddedFont>
    <p:embeddedFont>
      <p:font typeface="Roboto Condensed"/>
      <p:regular r:id="rId13"/>
    </p:embeddedFont>
    <p:embeddedFont>
      <p:font typeface="Roboto Condensed"/>
      <p:regular r:id="rId1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font" Target="fonts/font4.fntdata"/><Relationship Id="rId13" Type="http://schemas.openxmlformats.org/officeDocument/2006/relationships/font" Target="fonts/font5.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661749"/>
            <a:ext cx="13042821" cy="1204913"/>
          </a:xfrm>
          <a:prstGeom prst="rect">
            <a:avLst/>
          </a:prstGeom>
          <a:noFill/>
          <a:ln/>
        </p:spPr>
        <p:txBody>
          <a:bodyPr wrap="square" lIns="0" tIns="0" rIns="0" bIns="0" rtlCol="0" anchor="t"/>
          <a:lstStyle/>
          <a:p>
            <a:pPr algn="l" indent="0" marL="0">
              <a:lnSpc>
                <a:spcPts val="4700"/>
              </a:lnSpc>
              <a:buNone/>
            </a:pPr>
            <a:r>
              <a:rPr lang="en-US" sz="3750" b="1" dirty="0">
                <a:solidFill>
                  <a:srgbClr val="0C0D0F"/>
                </a:solidFill>
                <a:latin typeface="Hubot Sans Bold" pitchFamily="34" charset="0"/>
                <a:ea typeface="Hubot Sans Bold" pitchFamily="34" charset="-122"/>
                <a:cs typeface="Hubot Sans Bold" pitchFamily="34" charset="-120"/>
              </a:rPr>
              <a:t>CUSTOMER DATA SECURED THROUGH RAPID RESPONSE</a:t>
            </a:r>
            <a:endParaRPr lang="en-US" sz="3750" dirty="0"/>
          </a:p>
        </p:txBody>
      </p:sp>
      <p:sp>
        <p:nvSpPr>
          <p:cNvPr id="3" name="Text 1"/>
          <p:cNvSpPr/>
          <p:nvPr/>
        </p:nvSpPr>
        <p:spPr>
          <a:xfrm>
            <a:off x="793790" y="2194322"/>
            <a:ext cx="13042821" cy="2340531"/>
          </a:xfrm>
          <a:prstGeom prst="rect">
            <a:avLst/>
          </a:prstGeom>
          <a:noFill/>
          <a:ln/>
        </p:spPr>
        <p:txBody>
          <a:bodyPr wrap="square" lIns="0" tIns="0" rIns="0" bIns="0" rtlCol="0" anchor="t"/>
          <a:lstStyle/>
          <a:p>
            <a:pPr algn="l" marL="342900" indent="-342900">
              <a:lnSpc>
                <a:spcPts val="2200"/>
              </a:lnSpc>
              <a:buSzPct val="100000"/>
              <a:buFont typeface="+mj-lt"/>
              <a:buAutoNum type="arabicPeriod" startAt="1"/>
            </a:pPr>
            <a:r>
              <a:rPr lang="en-US" sz="1500" dirty="0">
                <a:solidFill>
                  <a:srgbClr val="55575A"/>
                </a:solidFill>
                <a:latin typeface="Roboto Condensed" pitchFamily="34" charset="0"/>
                <a:ea typeface="Roboto Condensed" pitchFamily="34" charset="-122"/>
                <a:cs typeface="Roboto Condensed" pitchFamily="34" charset="-120"/>
              </a:rPr>
              <a:t>Multiple Servers from our retails were able to identify that hackers were able to penetrate our database</a:t>
            </a:r>
            <a:endParaRPr lang="en-US" sz="1500" dirty="0"/>
          </a:p>
          <a:p>
            <a:pPr algn="l" marL="342900" indent="-342900">
              <a:lnSpc>
                <a:spcPts val="2200"/>
              </a:lnSpc>
              <a:buSzPct val="100000"/>
              <a:buFont typeface="+mj-lt"/>
              <a:buAutoNum type="arabicPeriod" startAt="2"/>
            </a:pPr>
            <a:r>
              <a:rPr lang="en-US" sz="1500" dirty="0">
                <a:solidFill>
                  <a:srgbClr val="55575A"/>
                </a:solidFill>
                <a:latin typeface="Roboto Condensed" pitchFamily="34" charset="0"/>
                <a:ea typeface="Roboto Condensed" pitchFamily="34" charset="-122"/>
                <a:cs typeface="Roboto Condensed" pitchFamily="34" charset="-120"/>
              </a:rPr>
              <a:t>Approximately 2.3M records were leaked from our customer database</a:t>
            </a:r>
            <a:endParaRPr lang="en-US" sz="1500" dirty="0"/>
          </a:p>
          <a:p>
            <a:pPr algn="l" marL="342900" indent="-342900">
              <a:lnSpc>
                <a:spcPts val="2200"/>
              </a:lnSpc>
              <a:buSzPct val="100000"/>
              <a:buFont typeface="+mj-lt"/>
              <a:buAutoNum type="arabicPeriod" startAt="3"/>
            </a:pPr>
            <a:r>
              <a:rPr lang="en-US" sz="1500" dirty="0">
                <a:solidFill>
                  <a:srgbClr val="55575A"/>
                </a:solidFill>
                <a:latin typeface="Roboto Condensed" pitchFamily="34" charset="0"/>
                <a:ea typeface="Roboto Condensed" pitchFamily="34" charset="-122"/>
                <a:cs typeface="Roboto Condensed" pitchFamily="34" charset="-120"/>
              </a:rPr>
              <a:t>The hackers movement was detected across 3 server locations including our physical server</a:t>
            </a:r>
            <a:endParaRPr lang="en-US" sz="1500" dirty="0"/>
          </a:p>
          <a:p>
            <a:pPr algn="l" marL="342900" indent="-342900">
              <a:lnSpc>
                <a:spcPts val="2200"/>
              </a:lnSpc>
              <a:buSzPct val="100000"/>
              <a:buFont typeface="+mj-lt"/>
              <a:buAutoNum type="arabicPeriod" startAt="4"/>
            </a:pPr>
            <a:r>
              <a:rPr lang="en-US" sz="1500" dirty="0">
                <a:solidFill>
                  <a:srgbClr val="55575A"/>
                </a:solidFill>
                <a:latin typeface="Roboto Condensed" pitchFamily="34" charset="0"/>
                <a:ea typeface="Roboto Condensed" pitchFamily="34" charset="-122"/>
                <a:cs typeface="Roboto Condensed" pitchFamily="34" charset="-120"/>
              </a:rPr>
              <a:t>Forensic team has been deployed and will take an estimate of 72 hours to assess the situation</a:t>
            </a:r>
            <a:endParaRPr lang="en-US" sz="1500" dirty="0"/>
          </a:p>
          <a:p>
            <a:pPr algn="l" marL="342900" indent="-342900">
              <a:lnSpc>
                <a:spcPts val="2200"/>
              </a:lnSpc>
              <a:buSzPct val="100000"/>
              <a:buFont typeface="+mj-lt"/>
              <a:buAutoNum type="arabicPeriod" startAt="5"/>
            </a:pPr>
            <a:r>
              <a:rPr lang="en-US" sz="1500" dirty="0">
                <a:solidFill>
                  <a:srgbClr val="55575A"/>
                </a:solidFill>
                <a:latin typeface="Roboto Condensed" pitchFamily="34" charset="0"/>
                <a:ea typeface="Roboto Condensed" pitchFamily="34" charset="-122"/>
                <a:cs typeface="Roboto Condensed" pitchFamily="34" charset="-120"/>
              </a:rPr>
              <a:t>We recommend the use of external team to assist in responding to the breach with a estimated cost between R2.4 million - R4.1 million</a:t>
            </a:r>
            <a:endParaRPr lang="en-US" sz="1500" dirty="0"/>
          </a:p>
          <a:p>
            <a:pPr algn="l" marL="342900" indent="-342900">
              <a:lnSpc>
                <a:spcPts val="2200"/>
              </a:lnSpc>
              <a:buSzPct val="100000"/>
              <a:buFont typeface="+mj-lt"/>
              <a:buAutoNum type="arabicPeriod" startAt="6"/>
            </a:pPr>
            <a:r>
              <a:rPr lang="en-US" sz="1500" dirty="0">
                <a:solidFill>
                  <a:srgbClr val="55575A"/>
                </a:solidFill>
                <a:latin typeface="Roboto Condensed" pitchFamily="34" charset="0"/>
                <a:ea typeface="Roboto Condensed" pitchFamily="34" charset="-122"/>
                <a:cs typeface="Roboto Condensed" pitchFamily="34" charset="-120"/>
              </a:rPr>
              <a:t>Response to information Regulators is to be decided from the response of legal review</a:t>
            </a:r>
            <a:endParaRPr lang="en-US" sz="1500" dirty="0"/>
          </a:p>
          <a:p>
            <a:pPr algn="l" marL="342900" indent="-342900">
              <a:lnSpc>
                <a:spcPts val="2200"/>
              </a:lnSpc>
              <a:buSzPct val="100000"/>
              <a:buFont typeface="+mj-lt"/>
              <a:buAutoNum type="arabicPeriod" startAt="7"/>
            </a:pPr>
            <a:r>
              <a:rPr lang="en-US" sz="1500" dirty="0">
                <a:solidFill>
                  <a:srgbClr val="55575A"/>
                </a:solidFill>
                <a:latin typeface="Roboto Condensed" pitchFamily="34" charset="0"/>
                <a:ea typeface="Roboto Condensed" pitchFamily="34" charset="-122"/>
                <a:cs typeface="Roboto Condensed" pitchFamily="34" charset="-120"/>
              </a:rPr>
              <a:t>We are awaiting executive response until we are able release any information to our customers</a:t>
            </a:r>
            <a:endParaRPr lang="en-US" sz="1500" dirty="0"/>
          </a:p>
        </p:txBody>
      </p:sp>
      <p:sp>
        <p:nvSpPr>
          <p:cNvPr id="4" name="Text 2"/>
          <p:cNvSpPr/>
          <p:nvPr/>
        </p:nvSpPr>
        <p:spPr>
          <a:xfrm>
            <a:off x="793790" y="4780598"/>
            <a:ext cx="2892028" cy="361474"/>
          </a:xfrm>
          <a:prstGeom prst="rect">
            <a:avLst/>
          </a:prstGeom>
          <a:noFill/>
          <a:ln/>
        </p:spPr>
        <p:txBody>
          <a:bodyPr wrap="none" lIns="0" tIns="0" rIns="0" bIns="0" rtlCol="0" anchor="t"/>
          <a:lstStyle/>
          <a:p>
            <a:pPr algn="l" indent="0" marL="0">
              <a:lnSpc>
                <a:spcPts val="2800"/>
              </a:lnSpc>
              <a:buNone/>
            </a:pPr>
            <a:r>
              <a:rPr lang="en-US" sz="2250" b="1" dirty="0">
                <a:solidFill>
                  <a:srgbClr val="0C0D0F"/>
                </a:solidFill>
                <a:latin typeface="Hubot Sans Bold" pitchFamily="34" charset="0"/>
                <a:ea typeface="Hubot Sans Bold" pitchFamily="34" charset="-122"/>
                <a:cs typeface="Hubot Sans Bold" pitchFamily="34" charset="-120"/>
              </a:rPr>
              <a:t>STRUCTURE UNIT:</a:t>
            </a:r>
            <a:endParaRPr lang="en-US" sz="2250" dirty="0"/>
          </a:p>
        </p:txBody>
      </p:sp>
      <p:sp>
        <p:nvSpPr>
          <p:cNvPr id="5" name="Text 3"/>
          <p:cNvSpPr/>
          <p:nvPr/>
        </p:nvSpPr>
        <p:spPr>
          <a:xfrm>
            <a:off x="793790" y="5387816"/>
            <a:ext cx="13042821" cy="970359"/>
          </a:xfrm>
          <a:prstGeom prst="rect">
            <a:avLst/>
          </a:prstGeom>
          <a:noFill/>
          <a:ln/>
        </p:spPr>
        <p:txBody>
          <a:bodyPr wrap="square" lIns="0" tIns="0" rIns="0" bIns="0" rtlCol="0" anchor="t"/>
          <a:lstStyle/>
          <a:p>
            <a:pPr algn="l" marL="342900" indent="-342900">
              <a:lnSpc>
                <a:spcPts val="2200"/>
              </a:lnSpc>
              <a:buSzPct val="100000"/>
              <a:buFont typeface="+mj-lt"/>
              <a:buAutoNum type="arabicPeriod" startAt="1"/>
            </a:pPr>
            <a:r>
              <a:rPr lang="en-US" sz="1500" dirty="0">
                <a:solidFill>
                  <a:srgbClr val="55575A"/>
                </a:solidFill>
                <a:latin typeface="Roboto Condensed" pitchFamily="34" charset="0"/>
                <a:ea typeface="Roboto Condensed" pitchFamily="34" charset="-122"/>
                <a:cs typeface="Roboto Condensed" pitchFamily="34" charset="-120"/>
              </a:rPr>
              <a:t>Customer data accessed through system weakness</a:t>
            </a:r>
            <a:endParaRPr lang="en-US" sz="1500" dirty="0"/>
          </a:p>
          <a:p>
            <a:pPr algn="l" marL="342900" indent="-342900">
              <a:lnSpc>
                <a:spcPts val="2200"/>
              </a:lnSpc>
              <a:buSzPct val="100000"/>
              <a:buFont typeface="+mj-lt"/>
              <a:buAutoNum type="arabicPeriod" startAt="2"/>
            </a:pPr>
            <a:r>
              <a:rPr lang="en-US" sz="1500" dirty="0">
                <a:solidFill>
                  <a:srgbClr val="55575A"/>
                </a:solidFill>
                <a:latin typeface="Roboto Condensed" pitchFamily="34" charset="0"/>
                <a:ea typeface="Roboto Condensed" pitchFamily="34" charset="-122"/>
                <a:cs typeface="Roboto Condensed" pitchFamily="34" charset="-120"/>
              </a:rPr>
              <a:t>System secured: Investigation and containment in progress</a:t>
            </a:r>
            <a:endParaRPr lang="en-US" sz="1500" dirty="0"/>
          </a:p>
          <a:p>
            <a:pPr algn="l" marL="342900" indent="-342900">
              <a:lnSpc>
                <a:spcPts val="2200"/>
              </a:lnSpc>
              <a:buSzPct val="100000"/>
              <a:buFont typeface="+mj-lt"/>
              <a:buAutoNum type="arabicPeriod" startAt="3"/>
            </a:pPr>
            <a:r>
              <a:rPr lang="en-US" sz="1500" dirty="0">
                <a:solidFill>
                  <a:srgbClr val="55575A"/>
                </a:solidFill>
                <a:latin typeface="Roboto Condensed" pitchFamily="34" charset="0"/>
                <a:ea typeface="Roboto Condensed" pitchFamily="34" charset="-122"/>
                <a:cs typeface="Roboto Condensed" pitchFamily="34" charset="-120"/>
              </a:rPr>
              <a:t>Notify regulators and customer within 48 hours</a:t>
            </a:r>
            <a:endParaRPr lang="en-US" sz="1500" dirty="0"/>
          </a:p>
        </p:txBody>
      </p:sp>
      <p:sp>
        <p:nvSpPr>
          <p:cNvPr id="6" name="Text 4"/>
          <p:cNvSpPr/>
          <p:nvPr/>
        </p:nvSpPr>
        <p:spPr>
          <a:xfrm>
            <a:off x="793790" y="6603921"/>
            <a:ext cx="13042821" cy="963930"/>
          </a:xfrm>
          <a:prstGeom prst="rect">
            <a:avLst/>
          </a:prstGeom>
          <a:noFill/>
          <a:ln/>
        </p:spPr>
        <p:txBody>
          <a:bodyPr wrap="square" lIns="0" tIns="0" rIns="0" bIns="0" rtlCol="0" anchor="t"/>
          <a:lstStyle/>
          <a:p>
            <a:pPr algn="l" indent="0" marL="0">
              <a:lnSpc>
                <a:spcPts val="3750"/>
              </a:lnSpc>
              <a:buNone/>
            </a:pPr>
            <a:r>
              <a:rPr lang="en-US" sz="3000" b="1" dirty="0">
                <a:solidFill>
                  <a:srgbClr val="0C0D0F"/>
                </a:solidFill>
                <a:latin typeface="Hubot Sans Bold" pitchFamily="34" charset="0"/>
                <a:ea typeface="Hubot Sans Bold" pitchFamily="34" charset="-122"/>
                <a:cs typeface="Hubot Sans Bold" pitchFamily="34" charset="-120"/>
              </a:rPr>
              <a:t>THE COMMUNICATION TIMELINE: WHERE IT ALL WENT WRONG</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04493" y="754261"/>
            <a:ext cx="4566761" cy="245269"/>
          </a:xfrm>
          <a:prstGeom prst="rect">
            <a:avLst/>
          </a:prstGeom>
          <a:noFill/>
          <a:ln/>
        </p:spPr>
        <p:txBody>
          <a:bodyPr wrap="none" lIns="0" tIns="0" rIns="0" bIns="0" rtlCol="0" anchor="t"/>
          <a:lstStyle/>
          <a:p>
            <a:pPr algn="l" indent="0" marL="0">
              <a:lnSpc>
                <a:spcPts val="1900"/>
              </a:lnSpc>
              <a:buNone/>
            </a:pPr>
            <a:r>
              <a:rPr lang="en-US" sz="1500" b="1" dirty="0">
                <a:solidFill>
                  <a:srgbClr val="0C0D0F"/>
                </a:solidFill>
                <a:latin typeface="Hubot Sans Bold" pitchFamily="34" charset="0"/>
                <a:ea typeface="Hubot Sans Bold" pitchFamily="34" charset="-122"/>
                <a:cs typeface="Hubot Sans Bold" pitchFamily="34" charset="-120"/>
              </a:rPr>
              <a:t>THE EARLY HOURS: TECHNICAL DISCOVERY</a:t>
            </a:r>
            <a:endParaRPr lang="en-US" sz="1500" dirty="0"/>
          </a:p>
        </p:txBody>
      </p:sp>
      <p:sp>
        <p:nvSpPr>
          <p:cNvPr id="3" name="Shape 1"/>
          <p:cNvSpPr/>
          <p:nvPr/>
        </p:nvSpPr>
        <p:spPr>
          <a:xfrm>
            <a:off x="7307580" y="1150382"/>
            <a:ext cx="15240" cy="1720810"/>
          </a:xfrm>
          <a:prstGeom prst="roundRect">
            <a:avLst>
              <a:gd name="adj" fmla="val 128780"/>
            </a:avLst>
          </a:prstGeom>
          <a:solidFill>
            <a:srgbClr val="000000">
              <a:alpha val="8000"/>
            </a:srgbClr>
          </a:solidFill>
          <a:ln/>
        </p:spPr>
      </p:sp>
      <p:sp>
        <p:nvSpPr>
          <p:cNvPr id="4" name="Shape 2"/>
          <p:cNvSpPr/>
          <p:nvPr/>
        </p:nvSpPr>
        <p:spPr>
          <a:xfrm>
            <a:off x="6938010" y="1666042"/>
            <a:ext cx="392430" cy="15240"/>
          </a:xfrm>
          <a:prstGeom prst="roundRect">
            <a:avLst>
              <a:gd name="adj" fmla="val 128780"/>
            </a:avLst>
          </a:prstGeom>
          <a:solidFill>
            <a:srgbClr val="AEB0A7"/>
          </a:solidFill>
          <a:ln/>
        </p:spPr>
      </p:sp>
      <p:sp>
        <p:nvSpPr>
          <p:cNvPr id="5" name="Shape 3"/>
          <p:cNvSpPr/>
          <p:nvPr/>
        </p:nvSpPr>
        <p:spPr>
          <a:xfrm>
            <a:off x="7266146" y="1624608"/>
            <a:ext cx="98108" cy="98108"/>
          </a:xfrm>
          <a:prstGeom prst="roundRect">
            <a:avLst>
              <a:gd name="adj" fmla="val 466017"/>
            </a:avLst>
          </a:prstGeom>
          <a:solidFill>
            <a:srgbClr val="C8CAC1"/>
          </a:solidFill>
          <a:ln/>
        </p:spPr>
      </p:sp>
      <p:sp>
        <p:nvSpPr>
          <p:cNvPr id="6" name="Shape 4"/>
          <p:cNvSpPr/>
          <p:nvPr/>
        </p:nvSpPr>
        <p:spPr>
          <a:xfrm>
            <a:off x="704493" y="1150382"/>
            <a:ext cx="6218277" cy="1046678"/>
          </a:xfrm>
          <a:prstGeom prst="roundRect">
            <a:avLst>
              <a:gd name="adj" fmla="val 1875"/>
            </a:avLst>
          </a:prstGeom>
          <a:solidFill>
            <a:srgbClr val="D8D9D2"/>
          </a:solidFill>
          <a:ln/>
        </p:spPr>
      </p:sp>
      <p:sp>
        <p:nvSpPr>
          <p:cNvPr id="7" name="Text 5"/>
          <p:cNvSpPr/>
          <p:nvPr/>
        </p:nvSpPr>
        <p:spPr>
          <a:xfrm>
            <a:off x="4476869" y="1281113"/>
            <a:ext cx="2315170" cy="204430"/>
          </a:xfrm>
          <a:prstGeom prst="rect">
            <a:avLst/>
          </a:prstGeom>
          <a:noFill/>
          <a:ln/>
        </p:spPr>
        <p:txBody>
          <a:bodyPr wrap="none" lIns="0" tIns="0" rIns="0" bIns="0" rtlCol="0" anchor="t"/>
          <a:lstStyle/>
          <a:p>
            <a:pPr algn="r" indent="0" marL="0">
              <a:lnSpc>
                <a:spcPts val="1600"/>
              </a:lnSpc>
              <a:buNone/>
            </a:pPr>
            <a:r>
              <a:rPr lang="en-US" sz="1250" b="1" dirty="0">
                <a:solidFill>
                  <a:srgbClr val="000000"/>
                </a:solidFill>
                <a:latin typeface="Hubot Sans Bold" pitchFamily="34" charset="0"/>
                <a:ea typeface="Hubot Sans Bold" pitchFamily="34" charset="-122"/>
                <a:cs typeface="Hubot Sans Bold" pitchFamily="34" charset="-120"/>
              </a:rPr>
              <a:t>02:47 — BREACH DETECTED</a:t>
            </a:r>
            <a:endParaRPr lang="en-US" sz="1250" dirty="0"/>
          </a:p>
        </p:txBody>
      </p:sp>
      <p:sp>
        <p:nvSpPr>
          <p:cNvPr id="8" name="Text 6"/>
          <p:cNvSpPr/>
          <p:nvPr/>
        </p:nvSpPr>
        <p:spPr>
          <a:xfrm>
            <a:off x="835223" y="1530787"/>
            <a:ext cx="5956816" cy="165021"/>
          </a:xfrm>
          <a:prstGeom prst="rect">
            <a:avLst/>
          </a:prstGeom>
          <a:noFill/>
          <a:ln/>
        </p:spPr>
        <p:txBody>
          <a:bodyPr wrap="none" lIns="0" tIns="0" rIns="0" bIns="0" rtlCol="0" anchor="t"/>
          <a:lstStyle/>
          <a:p>
            <a:pPr algn="r" indent="0" marL="0">
              <a:lnSpc>
                <a:spcPts val="1250"/>
              </a:lnSpc>
              <a:buNone/>
            </a:pPr>
            <a:r>
              <a:rPr lang="en-US" sz="1000" dirty="0">
                <a:solidFill>
                  <a:srgbClr val="000000"/>
                </a:solidFill>
                <a:latin typeface="Roboto Condensed" pitchFamily="34" charset="0"/>
                <a:ea typeface="Roboto Condensed" pitchFamily="34" charset="-122"/>
                <a:cs typeface="Roboto Condensed" pitchFamily="34" charset="-120"/>
              </a:rPr>
              <a:t>Automated systems trigger an alert. IT Security Lead </a:t>
            </a:r>
            <a:pPr algn="r" indent="0" marL="0">
              <a:lnSpc>
                <a:spcPts val="1250"/>
              </a:lnSpc>
              <a:buNone/>
            </a:pPr>
            <a:r>
              <a:rPr lang="en-US" sz="1000" b="1" dirty="0">
                <a:solidFill>
                  <a:srgbClr val="000000"/>
                </a:solidFill>
                <a:latin typeface="Roboto Condensed" pitchFamily="34" charset="0"/>
                <a:ea typeface="Roboto Condensed" pitchFamily="34" charset="-122"/>
                <a:cs typeface="Roboto Condensed" pitchFamily="34" charset="-120"/>
              </a:rPr>
              <a:t>Ruan Botha</a:t>
            </a:r>
            <a:pPr algn="r" indent="0" marL="0">
              <a:lnSpc>
                <a:spcPts val="1250"/>
              </a:lnSpc>
              <a:buNone/>
            </a:pPr>
            <a:r>
              <a:rPr lang="en-US" sz="1000" dirty="0">
                <a:solidFill>
                  <a:srgbClr val="000000"/>
                </a:solidFill>
                <a:latin typeface="Roboto Condensed" pitchFamily="34" charset="0"/>
                <a:ea typeface="Roboto Condensed" pitchFamily="34" charset="-122"/>
                <a:cs typeface="Roboto Condensed" pitchFamily="34" charset="-120"/>
              </a:rPr>
              <a:t> receives the notification.</a:t>
            </a:r>
            <a:endParaRPr lang="en-US" sz="1000" dirty="0"/>
          </a:p>
        </p:txBody>
      </p:sp>
      <p:sp>
        <p:nvSpPr>
          <p:cNvPr id="9" name="Shape 7"/>
          <p:cNvSpPr/>
          <p:nvPr/>
        </p:nvSpPr>
        <p:spPr>
          <a:xfrm>
            <a:off x="7299960" y="2340173"/>
            <a:ext cx="392430" cy="15240"/>
          </a:xfrm>
          <a:prstGeom prst="roundRect">
            <a:avLst>
              <a:gd name="adj" fmla="val 128780"/>
            </a:avLst>
          </a:prstGeom>
          <a:solidFill>
            <a:srgbClr val="AEB0A7"/>
          </a:solidFill>
          <a:ln/>
        </p:spPr>
      </p:sp>
      <p:sp>
        <p:nvSpPr>
          <p:cNvPr id="10" name="Shape 8"/>
          <p:cNvSpPr/>
          <p:nvPr/>
        </p:nvSpPr>
        <p:spPr>
          <a:xfrm>
            <a:off x="7266146" y="2298740"/>
            <a:ext cx="98108" cy="98108"/>
          </a:xfrm>
          <a:prstGeom prst="roundRect">
            <a:avLst>
              <a:gd name="adj" fmla="val 466017"/>
            </a:avLst>
          </a:prstGeom>
          <a:solidFill>
            <a:srgbClr val="C8CAC1"/>
          </a:solidFill>
          <a:ln/>
        </p:spPr>
      </p:sp>
      <p:sp>
        <p:nvSpPr>
          <p:cNvPr id="11" name="Shape 9"/>
          <p:cNvSpPr/>
          <p:nvPr/>
        </p:nvSpPr>
        <p:spPr>
          <a:xfrm>
            <a:off x="7707630" y="1824514"/>
            <a:ext cx="6218277" cy="1046678"/>
          </a:xfrm>
          <a:prstGeom prst="roundRect">
            <a:avLst>
              <a:gd name="adj" fmla="val 1875"/>
            </a:avLst>
          </a:prstGeom>
          <a:solidFill>
            <a:srgbClr val="D8D9D2"/>
          </a:solidFill>
          <a:ln/>
        </p:spPr>
      </p:sp>
      <p:sp>
        <p:nvSpPr>
          <p:cNvPr id="12" name="Text 10"/>
          <p:cNvSpPr/>
          <p:nvPr/>
        </p:nvSpPr>
        <p:spPr>
          <a:xfrm>
            <a:off x="7838361" y="1955244"/>
            <a:ext cx="2475309" cy="204430"/>
          </a:xfrm>
          <a:prstGeom prst="rect">
            <a:avLst/>
          </a:prstGeom>
          <a:noFill/>
          <a:ln/>
        </p:spPr>
        <p:txBody>
          <a:bodyPr wrap="none" lIns="0" tIns="0" rIns="0" bIns="0" rtlCol="0" anchor="t"/>
          <a:lstStyle/>
          <a:p>
            <a:pPr algn="l" indent="0" marL="0">
              <a:lnSpc>
                <a:spcPts val="1600"/>
              </a:lnSpc>
              <a:buNone/>
            </a:pPr>
            <a:r>
              <a:rPr lang="en-US" sz="1250" b="1" dirty="0">
                <a:solidFill>
                  <a:srgbClr val="000000"/>
                </a:solidFill>
                <a:latin typeface="Hubot Sans Bold" pitchFamily="34" charset="0"/>
                <a:ea typeface="Hubot Sans Bold" pitchFamily="34" charset="-122"/>
                <a:cs typeface="Hubot Sans Bold" pitchFamily="34" charset="-120"/>
              </a:rPr>
              <a:t>04:15 — BREACH CONFIRMED</a:t>
            </a:r>
            <a:endParaRPr lang="en-US" sz="1250" dirty="0"/>
          </a:p>
        </p:txBody>
      </p:sp>
      <p:sp>
        <p:nvSpPr>
          <p:cNvPr id="13" name="Text 11"/>
          <p:cNvSpPr/>
          <p:nvPr/>
        </p:nvSpPr>
        <p:spPr>
          <a:xfrm>
            <a:off x="7838361" y="2204918"/>
            <a:ext cx="5956816" cy="165021"/>
          </a:xfrm>
          <a:prstGeom prst="rect">
            <a:avLst/>
          </a:prstGeom>
          <a:noFill/>
          <a:ln/>
        </p:spPr>
        <p:txBody>
          <a:bodyPr wrap="none" lIns="0" tIns="0" rIns="0" bIns="0" rtlCol="0" anchor="t"/>
          <a:lstStyle/>
          <a:p>
            <a:pPr algn="l" indent="0" marL="0">
              <a:lnSpc>
                <a:spcPts val="1250"/>
              </a:lnSpc>
              <a:buNone/>
            </a:pPr>
            <a:r>
              <a:rPr lang="en-US" sz="1000" dirty="0">
                <a:solidFill>
                  <a:srgbClr val="000000"/>
                </a:solidFill>
                <a:latin typeface="Roboto Condensed" pitchFamily="34" charset="0"/>
                <a:ea typeface="Roboto Condensed" pitchFamily="34" charset="-122"/>
                <a:cs typeface="Roboto Condensed" pitchFamily="34" charset="-120"/>
              </a:rPr>
              <a:t>The security team confirms the scope. Botha drafts a technical email to CIO </a:t>
            </a:r>
            <a:pPr algn="l" indent="0" marL="0">
              <a:lnSpc>
                <a:spcPts val="1250"/>
              </a:lnSpc>
              <a:buNone/>
            </a:pPr>
            <a:r>
              <a:rPr lang="en-US" sz="1000" b="1" dirty="0">
                <a:solidFill>
                  <a:srgbClr val="000000"/>
                </a:solidFill>
                <a:latin typeface="Roboto Condensed" pitchFamily="34" charset="0"/>
                <a:ea typeface="Roboto Condensed" pitchFamily="34" charset="-122"/>
                <a:cs typeface="Roboto Condensed" pitchFamily="34" charset="-120"/>
              </a:rPr>
              <a:t>Pieter van der Merwe</a:t>
            </a:r>
            <a:pPr algn="l" indent="0" marL="0">
              <a:lnSpc>
                <a:spcPts val="1250"/>
              </a:lnSpc>
              <a:buNone/>
            </a:pPr>
            <a:r>
              <a:rPr lang="en-US" sz="1000" dirty="0">
                <a:solidFill>
                  <a:srgbClr val="000000"/>
                </a:solidFill>
                <a:latin typeface="Roboto Condensed" pitchFamily="34" charset="0"/>
                <a:ea typeface="Roboto Condensed" pitchFamily="34" charset="-122"/>
                <a:cs typeface="Roboto Condensed" pitchFamily="34" charset="-120"/>
              </a:rPr>
              <a:t>.</a:t>
            </a:r>
            <a:endParaRPr lang="en-US" sz="1000" dirty="0"/>
          </a:p>
        </p:txBody>
      </p:sp>
      <p:sp>
        <p:nvSpPr>
          <p:cNvPr id="14" name="Shape 12"/>
          <p:cNvSpPr/>
          <p:nvPr/>
        </p:nvSpPr>
        <p:spPr>
          <a:xfrm>
            <a:off x="704493" y="3021417"/>
            <a:ext cx="13221414" cy="23932"/>
          </a:xfrm>
          <a:prstGeom prst="rect">
            <a:avLst/>
          </a:prstGeom>
          <a:solidFill>
            <a:srgbClr val="55575A">
              <a:alpha val="50000"/>
            </a:srgbClr>
          </a:solidFill>
          <a:ln/>
        </p:spPr>
      </p:sp>
      <p:sp>
        <p:nvSpPr>
          <p:cNvPr id="15" name="Text 13"/>
          <p:cNvSpPr/>
          <p:nvPr/>
        </p:nvSpPr>
        <p:spPr>
          <a:xfrm>
            <a:off x="704493" y="3158371"/>
            <a:ext cx="5002292" cy="245269"/>
          </a:xfrm>
          <a:prstGeom prst="rect">
            <a:avLst/>
          </a:prstGeom>
          <a:noFill/>
          <a:ln/>
        </p:spPr>
        <p:txBody>
          <a:bodyPr wrap="none" lIns="0" tIns="0" rIns="0" bIns="0" rtlCol="0" anchor="t"/>
          <a:lstStyle/>
          <a:p>
            <a:pPr algn="l" indent="0" marL="0">
              <a:lnSpc>
                <a:spcPts val="1900"/>
              </a:lnSpc>
              <a:buNone/>
            </a:pPr>
            <a:r>
              <a:rPr lang="en-US" sz="1500" b="1" dirty="0">
                <a:solidFill>
                  <a:srgbClr val="0C0D0F"/>
                </a:solidFill>
                <a:latin typeface="Hubot Sans Bold" pitchFamily="34" charset="0"/>
                <a:ea typeface="Hubot Sans Bold" pitchFamily="34" charset="-122"/>
                <a:cs typeface="Hubot Sans Bold" pitchFamily="34" charset="-120"/>
              </a:rPr>
              <a:t>THE MORNING: COMMUNICATION BREAKDOWN</a:t>
            </a:r>
            <a:endParaRPr lang="en-US" sz="1500" dirty="0"/>
          </a:p>
        </p:txBody>
      </p:sp>
      <p:sp>
        <p:nvSpPr>
          <p:cNvPr id="16" name="Shape 14"/>
          <p:cNvSpPr/>
          <p:nvPr/>
        </p:nvSpPr>
        <p:spPr>
          <a:xfrm>
            <a:off x="704493" y="3516749"/>
            <a:ext cx="4356854" cy="1036677"/>
          </a:xfrm>
          <a:prstGeom prst="roundRect">
            <a:avLst>
              <a:gd name="adj" fmla="val 7056"/>
            </a:avLst>
          </a:prstGeom>
          <a:solidFill>
            <a:srgbClr val="E8E8E3"/>
          </a:solidFill>
          <a:ln w="15240">
            <a:solidFill>
              <a:srgbClr val="C8CAC1"/>
            </a:solidFill>
            <a:prstDash val="solid"/>
          </a:ln>
        </p:spPr>
      </p:sp>
      <p:sp>
        <p:nvSpPr>
          <p:cNvPr id="17" name="Shape 15"/>
          <p:cNvSpPr/>
          <p:nvPr/>
        </p:nvSpPr>
        <p:spPr>
          <a:xfrm>
            <a:off x="689253" y="3516749"/>
            <a:ext cx="60960" cy="1036677"/>
          </a:xfrm>
          <a:prstGeom prst="roundRect">
            <a:avLst>
              <a:gd name="adj" fmla="val 32195"/>
            </a:avLst>
          </a:prstGeom>
          <a:solidFill>
            <a:srgbClr val="C8CAC1"/>
          </a:solidFill>
          <a:ln/>
        </p:spPr>
      </p:sp>
      <p:sp>
        <p:nvSpPr>
          <p:cNvPr id="18" name="Text 16"/>
          <p:cNvSpPr/>
          <p:nvPr/>
        </p:nvSpPr>
        <p:spPr>
          <a:xfrm>
            <a:off x="896183" y="3662720"/>
            <a:ext cx="3110151" cy="204430"/>
          </a:xfrm>
          <a:prstGeom prst="rect">
            <a:avLst/>
          </a:prstGeom>
          <a:noFill/>
          <a:ln/>
        </p:spPr>
        <p:txBody>
          <a:bodyPr wrap="none" lIns="0" tIns="0" rIns="0" bIns="0" rtlCol="0" anchor="t"/>
          <a:lstStyle/>
          <a:p>
            <a:pPr algn="l" indent="0" marL="0">
              <a:lnSpc>
                <a:spcPts val="1600"/>
              </a:lnSpc>
              <a:buNone/>
            </a:pPr>
            <a:r>
              <a:rPr lang="en-US" sz="1250" b="1" dirty="0">
                <a:solidFill>
                  <a:srgbClr val="55575A"/>
                </a:solidFill>
                <a:latin typeface="Hubot Sans Bold" pitchFamily="34" charset="0"/>
                <a:ea typeface="Hubot Sans Bold" pitchFamily="34" charset="-122"/>
                <a:cs typeface="Hubot Sans Bold" pitchFamily="34" charset="-120"/>
              </a:rPr>
              <a:t>05:30 — THE "TECHNICAL" FORWARD</a:t>
            </a:r>
            <a:endParaRPr lang="en-US" sz="1250" dirty="0"/>
          </a:p>
        </p:txBody>
      </p:sp>
      <p:sp>
        <p:nvSpPr>
          <p:cNvPr id="19" name="Text 17"/>
          <p:cNvSpPr/>
          <p:nvPr/>
        </p:nvSpPr>
        <p:spPr>
          <a:xfrm>
            <a:off x="896183" y="3912394"/>
            <a:ext cx="4019193" cy="330041"/>
          </a:xfrm>
          <a:prstGeom prst="rect">
            <a:avLst/>
          </a:prstGeom>
          <a:noFill/>
          <a:ln/>
        </p:spPr>
        <p:txBody>
          <a:bodyPr wrap="square" lIns="0" tIns="0" rIns="0" bIns="0" rtlCol="0" anchor="t"/>
          <a:lstStyle/>
          <a:p>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CIO forwards the technical report to CEO </a:t>
            </a:r>
            <a:pPr algn="l" indent="0" marL="0">
              <a:lnSpc>
                <a:spcPts val="1250"/>
              </a:lnSpc>
              <a:buNone/>
            </a:pPr>
            <a:r>
              <a:rPr lang="en-US" sz="1000" b="1" dirty="0">
                <a:solidFill>
                  <a:srgbClr val="55575A"/>
                </a:solidFill>
                <a:latin typeface="Roboto Condensed" pitchFamily="34" charset="0"/>
                <a:ea typeface="Roboto Condensed" pitchFamily="34" charset="-122"/>
                <a:cs typeface="Roboto Condensed" pitchFamily="34" charset="-120"/>
              </a:rPr>
              <a:t>Nomsa Dlamini</a:t>
            </a:r>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 He fails to simplify the jargon or call her directly to explain the severity.</a:t>
            </a:r>
            <a:endParaRPr lang="en-US" sz="1000" dirty="0"/>
          </a:p>
        </p:txBody>
      </p:sp>
      <p:sp>
        <p:nvSpPr>
          <p:cNvPr id="20" name="Shape 18"/>
          <p:cNvSpPr/>
          <p:nvPr/>
        </p:nvSpPr>
        <p:spPr>
          <a:xfrm>
            <a:off x="5136713" y="3516749"/>
            <a:ext cx="4356854" cy="1036677"/>
          </a:xfrm>
          <a:prstGeom prst="roundRect">
            <a:avLst>
              <a:gd name="adj" fmla="val 7056"/>
            </a:avLst>
          </a:prstGeom>
          <a:solidFill>
            <a:srgbClr val="E8E8E3"/>
          </a:solidFill>
          <a:ln w="15240">
            <a:solidFill>
              <a:srgbClr val="C8CAC1"/>
            </a:solidFill>
            <a:prstDash val="solid"/>
          </a:ln>
        </p:spPr>
      </p:sp>
      <p:sp>
        <p:nvSpPr>
          <p:cNvPr id="21" name="Shape 19"/>
          <p:cNvSpPr/>
          <p:nvPr/>
        </p:nvSpPr>
        <p:spPr>
          <a:xfrm>
            <a:off x="5121473" y="3516749"/>
            <a:ext cx="60960" cy="1036677"/>
          </a:xfrm>
          <a:prstGeom prst="roundRect">
            <a:avLst>
              <a:gd name="adj" fmla="val 32195"/>
            </a:avLst>
          </a:prstGeom>
          <a:solidFill>
            <a:srgbClr val="C8CAC1"/>
          </a:solidFill>
          <a:ln/>
        </p:spPr>
      </p:sp>
      <p:sp>
        <p:nvSpPr>
          <p:cNvPr id="22" name="Text 20"/>
          <p:cNvSpPr/>
          <p:nvPr/>
        </p:nvSpPr>
        <p:spPr>
          <a:xfrm>
            <a:off x="5328404" y="3662720"/>
            <a:ext cx="2648426" cy="204430"/>
          </a:xfrm>
          <a:prstGeom prst="rect">
            <a:avLst/>
          </a:prstGeom>
          <a:noFill/>
          <a:ln/>
        </p:spPr>
        <p:txBody>
          <a:bodyPr wrap="none" lIns="0" tIns="0" rIns="0" bIns="0" rtlCol="0" anchor="t"/>
          <a:lstStyle/>
          <a:p>
            <a:pPr algn="l" indent="0" marL="0">
              <a:lnSpc>
                <a:spcPts val="1600"/>
              </a:lnSpc>
              <a:buNone/>
            </a:pPr>
            <a:r>
              <a:rPr lang="en-US" sz="1250" b="1" dirty="0">
                <a:solidFill>
                  <a:srgbClr val="55575A"/>
                </a:solidFill>
                <a:latin typeface="Hubot Sans Bold" pitchFamily="34" charset="0"/>
                <a:ea typeface="Hubot Sans Bold" pitchFamily="34" charset="-122"/>
                <a:cs typeface="Hubot Sans Bold" pitchFamily="34" charset="-120"/>
              </a:rPr>
              <a:t>06:15 — LOST IN TRANSLATION</a:t>
            </a:r>
            <a:endParaRPr lang="en-US" sz="1250" dirty="0"/>
          </a:p>
        </p:txBody>
      </p:sp>
      <p:sp>
        <p:nvSpPr>
          <p:cNvPr id="23" name="Text 21"/>
          <p:cNvSpPr/>
          <p:nvPr/>
        </p:nvSpPr>
        <p:spPr>
          <a:xfrm>
            <a:off x="5328404" y="3912394"/>
            <a:ext cx="4019193" cy="495062"/>
          </a:xfrm>
          <a:prstGeom prst="rect">
            <a:avLst/>
          </a:prstGeom>
          <a:noFill/>
          <a:ln/>
        </p:spPr>
        <p:txBody>
          <a:bodyPr wrap="square" lIns="0" tIns="0" rIns="0" bIns="0" rtlCol="0" anchor="t"/>
          <a:lstStyle/>
          <a:p>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The CEO reads the email on her phone. Confused by technical terms like "SQL injection," she forwards it to her PA to handle and does not treat it as an emergency.</a:t>
            </a:r>
            <a:endParaRPr lang="en-US" sz="1000" dirty="0"/>
          </a:p>
        </p:txBody>
      </p:sp>
      <p:sp>
        <p:nvSpPr>
          <p:cNvPr id="24" name="Shape 22"/>
          <p:cNvSpPr/>
          <p:nvPr/>
        </p:nvSpPr>
        <p:spPr>
          <a:xfrm>
            <a:off x="9568934" y="3516749"/>
            <a:ext cx="4356854" cy="1036677"/>
          </a:xfrm>
          <a:prstGeom prst="roundRect">
            <a:avLst>
              <a:gd name="adj" fmla="val 7056"/>
            </a:avLst>
          </a:prstGeom>
          <a:solidFill>
            <a:srgbClr val="E8E8E3"/>
          </a:solidFill>
          <a:ln w="15240">
            <a:solidFill>
              <a:srgbClr val="C8CAC1"/>
            </a:solidFill>
            <a:prstDash val="solid"/>
          </a:ln>
        </p:spPr>
      </p:sp>
      <p:sp>
        <p:nvSpPr>
          <p:cNvPr id="25" name="Shape 23"/>
          <p:cNvSpPr/>
          <p:nvPr/>
        </p:nvSpPr>
        <p:spPr>
          <a:xfrm>
            <a:off x="9553694" y="3516749"/>
            <a:ext cx="60960" cy="1036677"/>
          </a:xfrm>
          <a:prstGeom prst="roundRect">
            <a:avLst>
              <a:gd name="adj" fmla="val 32195"/>
            </a:avLst>
          </a:prstGeom>
          <a:solidFill>
            <a:srgbClr val="C8CAC1"/>
          </a:solidFill>
          <a:ln/>
        </p:spPr>
      </p:sp>
      <p:sp>
        <p:nvSpPr>
          <p:cNvPr id="26" name="Text 24"/>
          <p:cNvSpPr/>
          <p:nvPr/>
        </p:nvSpPr>
        <p:spPr>
          <a:xfrm>
            <a:off x="9760625" y="3662720"/>
            <a:ext cx="2199203" cy="204430"/>
          </a:xfrm>
          <a:prstGeom prst="rect">
            <a:avLst/>
          </a:prstGeom>
          <a:noFill/>
          <a:ln/>
        </p:spPr>
        <p:txBody>
          <a:bodyPr wrap="none" lIns="0" tIns="0" rIns="0" bIns="0" rtlCol="0" anchor="t"/>
          <a:lstStyle/>
          <a:p>
            <a:pPr algn="l" indent="0" marL="0">
              <a:lnSpc>
                <a:spcPts val="1600"/>
              </a:lnSpc>
              <a:buNone/>
            </a:pPr>
            <a:r>
              <a:rPr lang="en-US" sz="1250" b="1" dirty="0">
                <a:solidFill>
                  <a:srgbClr val="55575A"/>
                </a:solidFill>
                <a:latin typeface="Hubot Sans Bold" pitchFamily="34" charset="0"/>
                <a:ea typeface="Hubot Sans Bold" pitchFamily="34" charset="-122"/>
                <a:cs typeface="Hubot Sans Bold" pitchFamily="34" charset="-120"/>
              </a:rPr>
              <a:t>08:00 — FAILED CONTACT</a:t>
            </a:r>
            <a:endParaRPr lang="en-US" sz="1250" dirty="0"/>
          </a:p>
        </p:txBody>
      </p:sp>
      <p:sp>
        <p:nvSpPr>
          <p:cNvPr id="27" name="Text 25"/>
          <p:cNvSpPr/>
          <p:nvPr/>
        </p:nvSpPr>
        <p:spPr>
          <a:xfrm>
            <a:off x="9760625" y="3912394"/>
            <a:ext cx="4019193" cy="330041"/>
          </a:xfrm>
          <a:prstGeom prst="rect">
            <a:avLst/>
          </a:prstGeom>
          <a:noFill/>
          <a:ln/>
        </p:spPr>
        <p:txBody>
          <a:bodyPr wrap="square" lIns="0" tIns="0" rIns="0" bIns="0" rtlCol="0" anchor="t"/>
          <a:lstStyle/>
          <a:p>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The PA tries to call the CIO, but he is unreachable in a "war room." She leaves a voicemail.</a:t>
            </a:r>
            <a:endParaRPr lang="en-US" sz="1000" dirty="0"/>
          </a:p>
        </p:txBody>
      </p:sp>
      <p:sp>
        <p:nvSpPr>
          <p:cNvPr id="28" name="Shape 26"/>
          <p:cNvSpPr/>
          <p:nvPr/>
        </p:nvSpPr>
        <p:spPr>
          <a:xfrm>
            <a:off x="704493" y="4703651"/>
            <a:ext cx="13221414" cy="23932"/>
          </a:xfrm>
          <a:prstGeom prst="rect">
            <a:avLst/>
          </a:prstGeom>
          <a:solidFill>
            <a:srgbClr val="55575A">
              <a:alpha val="50000"/>
            </a:srgbClr>
          </a:solidFill>
          <a:ln/>
        </p:spPr>
      </p:sp>
      <p:sp>
        <p:nvSpPr>
          <p:cNvPr id="29" name="Text 27"/>
          <p:cNvSpPr/>
          <p:nvPr/>
        </p:nvSpPr>
        <p:spPr>
          <a:xfrm>
            <a:off x="704493" y="4840605"/>
            <a:ext cx="3210282" cy="245269"/>
          </a:xfrm>
          <a:prstGeom prst="rect">
            <a:avLst/>
          </a:prstGeom>
          <a:noFill/>
          <a:ln/>
        </p:spPr>
        <p:txBody>
          <a:bodyPr wrap="none" lIns="0" tIns="0" rIns="0" bIns="0" rtlCol="0" anchor="t"/>
          <a:lstStyle/>
          <a:p>
            <a:pPr algn="l" indent="0" marL="0">
              <a:lnSpc>
                <a:spcPts val="1900"/>
              </a:lnSpc>
              <a:buNone/>
            </a:pPr>
            <a:r>
              <a:rPr lang="en-US" sz="1500" b="1" dirty="0">
                <a:solidFill>
                  <a:srgbClr val="0C0D0F"/>
                </a:solidFill>
                <a:latin typeface="Hubot Sans Bold" pitchFamily="34" charset="0"/>
                <a:ea typeface="Hubot Sans Bold" pitchFamily="34" charset="-122"/>
                <a:cs typeface="Hubot Sans Bold" pitchFamily="34" charset="-120"/>
              </a:rPr>
              <a:t>THE MIDDAY: PUBLIC FALLOUT</a:t>
            </a:r>
            <a:endParaRPr lang="en-US" sz="1500" dirty="0"/>
          </a:p>
        </p:txBody>
      </p:sp>
      <p:sp>
        <p:nvSpPr>
          <p:cNvPr id="30" name="Shape 28"/>
          <p:cNvSpPr/>
          <p:nvPr/>
        </p:nvSpPr>
        <p:spPr>
          <a:xfrm>
            <a:off x="704493" y="5198983"/>
            <a:ext cx="4356854" cy="1006197"/>
          </a:xfrm>
          <a:prstGeom prst="roundRect">
            <a:avLst>
              <a:gd name="adj" fmla="val 1951"/>
            </a:avLst>
          </a:prstGeom>
          <a:solidFill>
            <a:srgbClr val="1E1E1A">
              <a:alpha val="50000"/>
            </a:srgbClr>
          </a:solidFill>
          <a:ln/>
        </p:spPr>
      </p:sp>
      <p:sp>
        <p:nvSpPr>
          <p:cNvPr id="31" name="Text 29"/>
          <p:cNvSpPr/>
          <p:nvPr/>
        </p:nvSpPr>
        <p:spPr>
          <a:xfrm>
            <a:off x="835223" y="5329714"/>
            <a:ext cx="1989892" cy="204430"/>
          </a:xfrm>
          <a:prstGeom prst="rect">
            <a:avLst/>
          </a:prstGeom>
          <a:noFill/>
          <a:ln/>
        </p:spPr>
        <p:txBody>
          <a:bodyPr wrap="none" lIns="0" tIns="0" rIns="0" bIns="0" rtlCol="0" anchor="t"/>
          <a:lstStyle/>
          <a:p>
            <a:pPr algn="l" indent="0" marL="0">
              <a:lnSpc>
                <a:spcPts val="1600"/>
              </a:lnSpc>
              <a:buNone/>
            </a:pPr>
            <a:r>
              <a:rPr lang="en-US" sz="1250" b="1" dirty="0">
                <a:solidFill>
                  <a:srgbClr val="FFFFFF"/>
                </a:solidFill>
                <a:latin typeface="Hubot Sans Bold" pitchFamily="34" charset="0"/>
                <a:ea typeface="Hubot Sans Bold" pitchFamily="34" charset="-122"/>
                <a:cs typeface="Hubot Sans Bold" pitchFamily="34" charset="-120"/>
              </a:rPr>
              <a:t>10:30 — TOTAL SILENCE</a:t>
            </a:r>
            <a:endParaRPr lang="en-US" sz="1250" dirty="0"/>
          </a:p>
        </p:txBody>
      </p:sp>
      <p:sp>
        <p:nvSpPr>
          <p:cNvPr id="32" name="Text 30"/>
          <p:cNvSpPr/>
          <p:nvPr/>
        </p:nvSpPr>
        <p:spPr>
          <a:xfrm>
            <a:off x="835223" y="5579388"/>
            <a:ext cx="4095393" cy="330041"/>
          </a:xfrm>
          <a:prstGeom prst="rect">
            <a:avLst/>
          </a:prstGeom>
          <a:noFill/>
          <a:ln/>
        </p:spPr>
        <p:txBody>
          <a:bodyPr wrap="square" lIns="0" tIns="0" rIns="0" bIns="0" rtlCol="0" anchor="t"/>
          <a:lstStyle/>
          <a:p>
            <a:pPr algn="l" indent="0" marL="0">
              <a:lnSpc>
                <a:spcPts val="1250"/>
              </a:lnSpc>
              <a:buNone/>
            </a:pPr>
            <a:r>
              <a:rPr lang="en-US" sz="1000" dirty="0">
                <a:solidFill>
                  <a:srgbClr val="FFFFFF"/>
                </a:solidFill>
                <a:latin typeface="Roboto Condensed" pitchFamily="34" charset="0"/>
                <a:ea typeface="Roboto Condensed" pitchFamily="34" charset="-122"/>
                <a:cs typeface="Roboto Condensed" pitchFamily="34" charset="-120"/>
              </a:rPr>
              <a:t>Six hours post-notification. No internal updates, no public statement, and the Head of Corp Comms (</a:t>
            </a:r>
            <a:pPr algn="l" indent="0" marL="0">
              <a:lnSpc>
                <a:spcPts val="1250"/>
              </a:lnSpc>
              <a:buNone/>
            </a:pPr>
            <a:r>
              <a:rPr lang="en-US" sz="1000" b="1" dirty="0">
                <a:solidFill>
                  <a:srgbClr val="FFFFFF"/>
                </a:solidFill>
                <a:latin typeface="Roboto Condensed" pitchFamily="34" charset="0"/>
                <a:ea typeface="Roboto Condensed" pitchFamily="34" charset="-122"/>
                <a:cs typeface="Roboto Condensed" pitchFamily="34" charset="-120"/>
              </a:rPr>
              <a:t>Ayanda Moyo</a:t>
            </a:r>
            <a:pPr algn="l" indent="0" marL="0">
              <a:lnSpc>
                <a:spcPts val="1250"/>
              </a:lnSpc>
              <a:buNone/>
            </a:pPr>
            <a:r>
              <a:rPr lang="en-US" sz="1000" dirty="0">
                <a:solidFill>
                  <a:srgbClr val="FFFFFF"/>
                </a:solidFill>
                <a:latin typeface="Roboto Condensed" pitchFamily="34" charset="0"/>
                <a:ea typeface="Roboto Condensed" pitchFamily="34" charset="-122"/>
                <a:cs typeface="Roboto Condensed" pitchFamily="34" charset="-120"/>
              </a:rPr>
              <a:t>) is still in the dark.</a:t>
            </a:r>
            <a:endParaRPr lang="en-US" sz="1000" dirty="0"/>
          </a:p>
        </p:txBody>
      </p:sp>
      <p:sp>
        <p:nvSpPr>
          <p:cNvPr id="33" name="Shape 31"/>
          <p:cNvSpPr/>
          <p:nvPr/>
        </p:nvSpPr>
        <p:spPr>
          <a:xfrm>
            <a:off x="5136713" y="5198983"/>
            <a:ext cx="4356854" cy="1006197"/>
          </a:xfrm>
          <a:prstGeom prst="roundRect">
            <a:avLst>
              <a:gd name="adj" fmla="val 1951"/>
            </a:avLst>
          </a:prstGeom>
          <a:solidFill>
            <a:srgbClr val="1E1E1A">
              <a:alpha val="50000"/>
            </a:srgbClr>
          </a:solidFill>
          <a:ln/>
        </p:spPr>
      </p:sp>
      <p:sp>
        <p:nvSpPr>
          <p:cNvPr id="34" name="Text 32"/>
          <p:cNvSpPr/>
          <p:nvPr/>
        </p:nvSpPr>
        <p:spPr>
          <a:xfrm>
            <a:off x="5267444" y="5329714"/>
            <a:ext cx="1635442" cy="204430"/>
          </a:xfrm>
          <a:prstGeom prst="rect">
            <a:avLst/>
          </a:prstGeom>
          <a:noFill/>
          <a:ln/>
        </p:spPr>
        <p:txBody>
          <a:bodyPr wrap="none" lIns="0" tIns="0" rIns="0" bIns="0" rtlCol="0" anchor="t"/>
          <a:lstStyle/>
          <a:p>
            <a:pPr algn="l" indent="0" marL="0">
              <a:lnSpc>
                <a:spcPts val="1600"/>
              </a:lnSpc>
              <a:buNone/>
            </a:pPr>
            <a:r>
              <a:rPr lang="en-US" sz="1250" b="1" dirty="0">
                <a:solidFill>
                  <a:srgbClr val="FFFFFF"/>
                </a:solidFill>
                <a:latin typeface="Hubot Sans Bold" pitchFamily="34" charset="0"/>
                <a:ea typeface="Hubot Sans Bold" pitchFamily="34" charset="-122"/>
                <a:cs typeface="Hubot Sans Bold" pitchFamily="34" charset="-120"/>
              </a:rPr>
              <a:t>11:15 — THE LEAK</a:t>
            </a:r>
            <a:endParaRPr lang="en-US" sz="1250" dirty="0"/>
          </a:p>
        </p:txBody>
      </p:sp>
      <p:sp>
        <p:nvSpPr>
          <p:cNvPr id="35" name="Text 33"/>
          <p:cNvSpPr/>
          <p:nvPr/>
        </p:nvSpPr>
        <p:spPr>
          <a:xfrm>
            <a:off x="5267444" y="5579388"/>
            <a:ext cx="4095393" cy="330041"/>
          </a:xfrm>
          <a:prstGeom prst="rect">
            <a:avLst/>
          </a:prstGeom>
          <a:noFill/>
          <a:ln/>
        </p:spPr>
        <p:txBody>
          <a:bodyPr wrap="square" lIns="0" tIns="0" rIns="0" bIns="0" rtlCol="0" anchor="t"/>
          <a:lstStyle/>
          <a:p>
            <a:pPr algn="l" indent="0" marL="0">
              <a:lnSpc>
                <a:spcPts val="1250"/>
              </a:lnSpc>
              <a:buNone/>
            </a:pPr>
            <a:r>
              <a:rPr lang="en-US" sz="1000" dirty="0">
                <a:solidFill>
                  <a:srgbClr val="FFFFFF"/>
                </a:solidFill>
                <a:latin typeface="Roboto Condensed" pitchFamily="34" charset="0"/>
                <a:ea typeface="Roboto Condensed" pitchFamily="34" charset="-122"/>
                <a:cs typeface="Roboto Condensed" pitchFamily="34" charset="-120"/>
              </a:rPr>
              <a:t>A junior contractor leaks the breach on X (Twitter). The post goes viral across Reddit and WhatsApp within 40 minutes.</a:t>
            </a:r>
            <a:endParaRPr lang="en-US" sz="1000" dirty="0"/>
          </a:p>
        </p:txBody>
      </p:sp>
      <p:sp>
        <p:nvSpPr>
          <p:cNvPr id="36" name="Shape 34"/>
          <p:cNvSpPr/>
          <p:nvPr/>
        </p:nvSpPr>
        <p:spPr>
          <a:xfrm>
            <a:off x="9568934" y="5198983"/>
            <a:ext cx="4356854" cy="1006197"/>
          </a:xfrm>
          <a:prstGeom prst="roundRect">
            <a:avLst>
              <a:gd name="adj" fmla="val 1951"/>
            </a:avLst>
          </a:prstGeom>
          <a:solidFill>
            <a:srgbClr val="1E1E1A">
              <a:alpha val="50000"/>
            </a:srgbClr>
          </a:solidFill>
          <a:ln/>
        </p:spPr>
      </p:sp>
      <p:sp>
        <p:nvSpPr>
          <p:cNvPr id="37" name="Text 35"/>
          <p:cNvSpPr/>
          <p:nvPr/>
        </p:nvSpPr>
        <p:spPr>
          <a:xfrm>
            <a:off x="9699665" y="5329714"/>
            <a:ext cx="2246233" cy="204430"/>
          </a:xfrm>
          <a:prstGeom prst="rect">
            <a:avLst/>
          </a:prstGeom>
          <a:noFill/>
          <a:ln/>
        </p:spPr>
        <p:txBody>
          <a:bodyPr wrap="none" lIns="0" tIns="0" rIns="0" bIns="0" rtlCol="0" anchor="t"/>
          <a:lstStyle/>
          <a:p>
            <a:pPr algn="l" indent="0" marL="0">
              <a:lnSpc>
                <a:spcPts val="1600"/>
              </a:lnSpc>
              <a:buNone/>
            </a:pPr>
            <a:r>
              <a:rPr lang="en-US" sz="1250" b="1" dirty="0">
                <a:solidFill>
                  <a:srgbClr val="FFFFFF"/>
                </a:solidFill>
                <a:latin typeface="Hubot Sans Bold" pitchFamily="34" charset="0"/>
                <a:ea typeface="Hubot Sans Bold" pitchFamily="34" charset="-122"/>
                <a:cs typeface="Hubot Sans Bold" pitchFamily="34" charset="-120"/>
              </a:rPr>
              <a:t>11:45 — MEDIA INQUIRIES</a:t>
            </a:r>
            <a:endParaRPr lang="en-US" sz="1250" dirty="0"/>
          </a:p>
        </p:txBody>
      </p:sp>
      <p:sp>
        <p:nvSpPr>
          <p:cNvPr id="38" name="Text 36"/>
          <p:cNvSpPr/>
          <p:nvPr/>
        </p:nvSpPr>
        <p:spPr>
          <a:xfrm>
            <a:off x="9699665" y="5579388"/>
            <a:ext cx="4095393" cy="495062"/>
          </a:xfrm>
          <a:prstGeom prst="rect">
            <a:avLst/>
          </a:prstGeom>
          <a:noFill/>
          <a:ln/>
        </p:spPr>
        <p:txBody>
          <a:bodyPr wrap="square" lIns="0" tIns="0" rIns="0" bIns="0" rtlCol="0" anchor="t"/>
          <a:lstStyle/>
          <a:p>
            <a:pPr algn="l" indent="0" marL="0">
              <a:lnSpc>
                <a:spcPts val="1250"/>
              </a:lnSpc>
              <a:buNone/>
            </a:pPr>
            <a:r>
              <a:rPr lang="en-US" sz="1000" dirty="0">
                <a:solidFill>
                  <a:srgbClr val="FFFFFF"/>
                </a:solidFill>
                <a:latin typeface="Roboto Condensed" pitchFamily="34" charset="0"/>
                <a:ea typeface="Roboto Condensed" pitchFamily="34" charset="-122"/>
                <a:cs typeface="Roboto Condensed" pitchFamily="34" charset="-120"/>
              </a:rPr>
              <a:t>News24, eNCA, and Business Day call the switchboard. With no prepared statement, calls are routed to Ayanda Moyo's voicemail—who still doesn't know there is a breach.</a:t>
            </a:r>
            <a:endParaRPr lang="en-US" sz="1000" dirty="0"/>
          </a:p>
        </p:txBody>
      </p:sp>
      <p:sp>
        <p:nvSpPr>
          <p:cNvPr id="39" name="Shape 37"/>
          <p:cNvSpPr/>
          <p:nvPr/>
        </p:nvSpPr>
        <p:spPr>
          <a:xfrm>
            <a:off x="704493" y="6355405"/>
            <a:ext cx="13221414" cy="23932"/>
          </a:xfrm>
          <a:prstGeom prst="rect">
            <a:avLst/>
          </a:prstGeom>
          <a:solidFill>
            <a:srgbClr val="55575A">
              <a:alpha val="50000"/>
            </a:srgbClr>
          </a:solidFill>
          <a:ln/>
        </p:spPr>
      </p:sp>
      <p:sp>
        <p:nvSpPr>
          <p:cNvPr id="40" name="Text 38"/>
          <p:cNvSpPr/>
          <p:nvPr/>
        </p:nvSpPr>
        <p:spPr>
          <a:xfrm>
            <a:off x="704493" y="6492359"/>
            <a:ext cx="4287679" cy="245269"/>
          </a:xfrm>
          <a:prstGeom prst="rect">
            <a:avLst/>
          </a:prstGeom>
          <a:noFill/>
          <a:ln/>
        </p:spPr>
        <p:txBody>
          <a:bodyPr wrap="none" lIns="0" tIns="0" rIns="0" bIns="0" rtlCol="0" anchor="t"/>
          <a:lstStyle/>
          <a:p>
            <a:pPr algn="l" indent="0" marL="0">
              <a:lnSpc>
                <a:spcPts val="1900"/>
              </a:lnSpc>
              <a:buNone/>
            </a:pPr>
            <a:r>
              <a:rPr lang="en-US" sz="1500" b="1" dirty="0">
                <a:solidFill>
                  <a:srgbClr val="0C0D0F"/>
                </a:solidFill>
                <a:latin typeface="Hubot Sans Bold" pitchFamily="34" charset="0"/>
                <a:ea typeface="Hubot Sans Bold" pitchFamily="34" charset="-122"/>
                <a:cs typeface="Hubot Sans Bold" pitchFamily="34" charset="-120"/>
              </a:rPr>
              <a:t>THE AFTERNOON: ESCALATION &amp; CRISIS</a:t>
            </a:r>
            <a:endParaRPr lang="en-US" sz="1500" dirty="0"/>
          </a:p>
        </p:txBody>
      </p:sp>
      <p:sp>
        <p:nvSpPr>
          <p:cNvPr id="41" name="Shape 39"/>
          <p:cNvSpPr/>
          <p:nvPr/>
        </p:nvSpPr>
        <p:spPr>
          <a:xfrm>
            <a:off x="704493" y="6850737"/>
            <a:ext cx="294323" cy="294323"/>
          </a:xfrm>
          <a:prstGeom prst="roundRect">
            <a:avLst>
              <a:gd name="adj" fmla="val 6668"/>
            </a:avLst>
          </a:prstGeom>
          <a:solidFill>
            <a:srgbClr val="C8CAC1">
              <a:alpha val="50000"/>
            </a:srgbClr>
          </a:solidFill>
          <a:ln/>
        </p:spPr>
      </p:sp>
      <p:sp>
        <p:nvSpPr>
          <p:cNvPr id="42" name="Text 40"/>
          <p:cNvSpPr/>
          <p:nvPr/>
        </p:nvSpPr>
        <p:spPr>
          <a:xfrm>
            <a:off x="753547" y="6875264"/>
            <a:ext cx="196215" cy="245269"/>
          </a:xfrm>
          <a:prstGeom prst="rect">
            <a:avLst/>
          </a:prstGeom>
          <a:noFill/>
          <a:ln/>
        </p:spPr>
        <p:txBody>
          <a:bodyPr wrap="none" lIns="0" tIns="0" rIns="0" bIns="0" rtlCol="0" anchor="t"/>
          <a:lstStyle/>
          <a:p>
            <a:pPr algn="ctr" indent="0" marL="0">
              <a:lnSpc>
                <a:spcPts val="1500"/>
              </a:lnSpc>
              <a:buNone/>
            </a:pPr>
            <a:r>
              <a:rPr lang="en-US" sz="1500" b="1" dirty="0">
                <a:solidFill>
                  <a:srgbClr val="000000"/>
                </a:solidFill>
                <a:latin typeface="Hubot Sans Bold" pitchFamily="34" charset="0"/>
                <a:ea typeface="Hubot Sans Bold" pitchFamily="34" charset="-122"/>
                <a:cs typeface="Hubot Sans Bold" pitchFamily="34" charset="-120"/>
              </a:rPr>
              <a:t>1</a:t>
            </a:r>
            <a:endParaRPr lang="en-US" sz="1500" dirty="0"/>
          </a:p>
        </p:txBody>
      </p:sp>
      <p:sp>
        <p:nvSpPr>
          <p:cNvPr id="43" name="Text 41"/>
          <p:cNvSpPr/>
          <p:nvPr/>
        </p:nvSpPr>
        <p:spPr>
          <a:xfrm>
            <a:off x="1074182" y="6895624"/>
            <a:ext cx="2355890" cy="204430"/>
          </a:xfrm>
          <a:prstGeom prst="rect">
            <a:avLst/>
          </a:prstGeom>
          <a:noFill/>
          <a:ln/>
        </p:spPr>
        <p:txBody>
          <a:bodyPr wrap="none" lIns="0" tIns="0" rIns="0" bIns="0" rtlCol="0" anchor="t"/>
          <a:lstStyle/>
          <a:p>
            <a:pPr algn="l" indent="0" marL="0">
              <a:lnSpc>
                <a:spcPts val="1600"/>
              </a:lnSpc>
              <a:buNone/>
            </a:pPr>
            <a:r>
              <a:rPr lang="en-US" sz="1250" b="1" dirty="0">
                <a:solidFill>
                  <a:srgbClr val="55575A"/>
                </a:solidFill>
                <a:latin typeface="Hubot Sans Bold" pitchFamily="34" charset="0"/>
                <a:ea typeface="Hubot Sans Bold" pitchFamily="34" charset="-122"/>
                <a:cs typeface="Hubot Sans Bold" pitchFamily="34" charset="-120"/>
              </a:rPr>
              <a:t>12:00 — MARKET REACTION</a:t>
            </a:r>
            <a:endParaRPr lang="en-US" sz="1250" dirty="0"/>
          </a:p>
        </p:txBody>
      </p:sp>
      <p:sp>
        <p:nvSpPr>
          <p:cNvPr id="44" name="Text 42"/>
          <p:cNvSpPr/>
          <p:nvPr/>
        </p:nvSpPr>
        <p:spPr>
          <a:xfrm>
            <a:off x="1074182" y="7145298"/>
            <a:ext cx="3974544" cy="165021"/>
          </a:xfrm>
          <a:prstGeom prst="rect">
            <a:avLst/>
          </a:prstGeom>
          <a:noFill/>
          <a:ln/>
        </p:spPr>
        <p:txBody>
          <a:bodyPr wrap="none" lIns="0" tIns="0" rIns="0" bIns="0" rtlCol="0" anchor="t"/>
          <a:lstStyle/>
          <a:p>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The JSE opens; RetailCo's share price drops </a:t>
            </a:r>
            <a:pPr algn="l" indent="0" marL="0">
              <a:lnSpc>
                <a:spcPts val="1250"/>
              </a:lnSpc>
              <a:buNone/>
            </a:pPr>
            <a:r>
              <a:rPr lang="en-US" sz="1000" b="1" dirty="0">
                <a:solidFill>
                  <a:srgbClr val="55575A"/>
                </a:solidFill>
                <a:latin typeface="Roboto Condensed" pitchFamily="34" charset="0"/>
                <a:ea typeface="Roboto Condensed" pitchFamily="34" charset="-122"/>
                <a:cs typeface="Roboto Condensed" pitchFamily="34" charset="-120"/>
              </a:rPr>
              <a:t>8%</a:t>
            </a:r>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 in one hour.</a:t>
            </a:r>
            <a:endParaRPr lang="en-US" sz="1000" dirty="0"/>
          </a:p>
        </p:txBody>
      </p:sp>
      <p:sp>
        <p:nvSpPr>
          <p:cNvPr id="45" name="Shape 43"/>
          <p:cNvSpPr/>
          <p:nvPr/>
        </p:nvSpPr>
        <p:spPr>
          <a:xfrm>
            <a:off x="5143024" y="6850737"/>
            <a:ext cx="294323" cy="294323"/>
          </a:xfrm>
          <a:prstGeom prst="roundRect">
            <a:avLst>
              <a:gd name="adj" fmla="val 6668"/>
            </a:avLst>
          </a:prstGeom>
          <a:solidFill>
            <a:srgbClr val="C8CAC1">
              <a:alpha val="50000"/>
            </a:srgbClr>
          </a:solidFill>
          <a:ln/>
        </p:spPr>
      </p:sp>
      <p:sp>
        <p:nvSpPr>
          <p:cNvPr id="46" name="Text 44"/>
          <p:cNvSpPr/>
          <p:nvPr/>
        </p:nvSpPr>
        <p:spPr>
          <a:xfrm>
            <a:off x="5192078" y="6875264"/>
            <a:ext cx="196215" cy="245269"/>
          </a:xfrm>
          <a:prstGeom prst="rect">
            <a:avLst/>
          </a:prstGeom>
          <a:noFill/>
          <a:ln/>
        </p:spPr>
        <p:txBody>
          <a:bodyPr wrap="none" lIns="0" tIns="0" rIns="0" bIns="0" rtlCol="0" anchor="t"/>
          <a:lstStyle/>
          <a:p>
            <a:pPr algn="ctr" indent="0" marL="0">
              <a:lnSpc>
                <a:spcPts val="1500"/>
              </a:lnSpc>
              <a:buNone/>
            </a:pPr>
            <a:r>
              <a:rPr lang="en-US" sz="1500" b="1" dirty="0">
                <a:solidFill>
                  <a:srgbClr val="000000"/>
                </a:solidFill>
                <a:latin typeface="Hubot Sans Bold" pitchFamily="34" charset="0"/>
                <a:ea typeface="Hubot Sans Bold" pitchFamily="34" charset="-122"/>
                <a:cs typeface="Hubot Sans Bold" pitchFamily="34" charset="-120"/>
              </a:rPr>
              <a:t>2</a:t>
            </a:r>
            <a:endParaRPr lang="en-US" sz="1500" dirty="0"/>
          </a:p>
        </p:txBody>
      </p:sp>
      <p:sp>
        <p:nvSpPr>
          <p:cNvPr id="47" name="Text 45"/>
          <p:cNvSpPr/>
          <p:nvPr/>
        </p:nvSpPr>
        <p:spPr>
          <a:xfrm>
            <a:off x="5512713" y="6895624"/>
            <a:ext cx="2745700" cy="204430"/>
          </a:xfrm>
          <a:prstGeom prst="rect">
            <a:avLst/>
          </a:prstGeom>
          <a:noFill/>
          <a:ln/>
        </p:spPr>
        <p:txBody>
          <a:bodyPr wrap="none" lIns="0" tIns="0" rIns="0" bIns="0" rtlCol="0" anchor="t"/>
          <a:lstStyle/>
          <a:p>
            <a:pPr algn="l" indent="0" marL="0">
              <a:lnSpc>
                <a:spcPts val="1600"/>
              </a:lnSpc>
              <a:buNone/>
            </a:pPr>
            <a:r>
              <a:rPr lang="en-US" sz="1250" b="1" dirty="0">
                <a:solidFill>
                  <a:srgbClr val="55575A"/>
                </a:solidFill>
                <a:latin typeface="Hubot Sans Bold" pitchFamily="34" charset="0"/>
                <a:ea typeface="Hubot Sans Bold" pitchFamily="34" charset="-122"/>
                <a:cs typeface="Hubot Sans Bold" pitchFamily="34" charset="-120"/>
              </a:rPr>
              <a:t>13:00 — REGULATORY PRESSURE</a:t>
            </a:r>
            <a:endParaRPr lang="en-US" sz="1250" dirty="0"/>
          </a:p>
        </p:txBody>
      </p:sp>
      <p:sp>
        <p:nvSpPr>
          <p:cNvPr id="48" name="Text 46"/>
          <p:cNvSpPr/>
          <p:nvPr/>
        </p:nvSpPr>
        <p:spPr>
          <a:xfrm>
            <a:off x="5512713" y="7145298"/>
            <a:ext cx="3974544" cy="330041"/>
          </a:xfrm>
          <a:prstGeom prst="rect">
            <a:avLst/>
          </a:prstGeom>
          <a:noFill/>
          <a:ln/>
        </p:spPr>
        <p:txBody>
          <a:bodyPr wrap="square" lIns="0" tIns="0" rIns="0" bIns="0" rtlCol="0" anchor="t"/>
          <a:lstStyle/>
          <a:p>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The Information Regulator sends a formal demand for answers with a 48-hour deadline.</a:t>
            </a:r>
            <a:endParaRPr lang="en-US" sz="1000" dirty="0"/>
          </a:p>
        </p:txBody>
      </p:sp>
      <p:sp>
        <p:nvSpPr>
          <p:cNvPr id="49" name="Shape 47"/>
          <p:cNvSpPr/>
          <p:nvPr/>
        </p:nvSpPr>
        <p:spPr>
          <a:xfrm>
            <a:off x="9581555" y="6850737"/>
            <a:ext cx="294323" cy="294323"/>
          </a:xfrm>
          <a:prstGeom prst="roundRect">
            <a:avLst>
              <a:gd name="adj" fmla="val 6668"/>
            </a:avLst>
          </a:prstGeom>
          <a:solidFill>
            <a:srgbClr val="C8CAC1">
              <a:alpha val="50000"/>
            </a:srgbClr>
          </a:solidFill>
          <a:ln/>
        </p:spPr>
      </p:sp>
      <p:sp>
        <p:nvSpPr>
          <p:cNvPr id="50" name="Text 48"/>
          <p:cNvSpPr/>
          <p:nvPr/>
        </p:nvSpPr>
        <p:spPr>
          <a:xfrm>
            <a:off x="9630608" y="6875264"/>
            <a:ext cx="196215" cy="245269"/>
          </a:xfrm>
          <a:prstGeom prst="rect">
            <a:avLst/>
          </a:prstGeom>
          <a:noFill/>
          <a:ln/>
        </p:spPr>
        <p:txBody>
          <a:bodyPr wrap="none" lIns="0" tIns="0" rIns="0" bIns="0" rtlCol="0" anchor="t"/>
          <a:lstStyle/>
          <a:p>
            <a:pPr algn="ctr" indent="0" marL="0">
              <a:lnSpc>
                <a:spcPts val="1500"/>
              </a:lnSpc>
              <a:buNone/>
            </a:pPr>
            <a:r>
              <a:rPr lang="en-US" sz="1500" b="1" dirty="0">
                <a:solidFill>
                  <a:srgbClr val="000000"/>
                </a:solidFill>
                <a:latin typeface="Hubot Sans Bold" pitchFamily="34" charset="0"/>
                <a:ea typeface="Hubot Sans Bold" pitchFamily="34" charset="-122"/>
                <a:cs typeface="Hubot Sans Bold" pitchFamily="34" charset="-120"/>
              </a:rPr>
              <a:t>3</a:t>
            </a:r>
            <a:endParaRPr lang="en-US" sz="1500" dirty="0"/>
          </a:p>
        </p:txBody>
      </p:sp>
      <p:sp>
        <p:nvSpPr>
          <p:cNvPr id="51" name="Text 49"/>
          <p:cNvSpPr/>
          <p:nvPr/>
        </p:nvSpPr>
        <p:spPr>
          <a:xfrm>
            <a:off x="9951244" y="6895624"/>
            <a:ext cx="3005376" cy="204430"/>
          </a:xfrm>
          <a:prstGeom prst="rect">
            <a:avLst/>
          </a:prstGeom>
          <a:noFill/>
          <a:ln/>
        </p:spPr>
        <p:txBody>
          <a:bodyPr wrap="none" lIns="0" tIns="0" rIns="0" bIns="0" rtlCol="0" anchor="t"/>
          <a:lstStyle/>
          <a:p>
            <a:pPr algn="l" indent="0" marL="0">
              <a:lnSpc>
                <a:spcPts val="1600"/>
              </a:lnSpc>
              <a:buNone/>
            </a:pPr>
            <a:r>
              <a:rPr lang="en-US" sz="1250" b="1" dirty="0">
                <a:solidFill>
                  <a:srgbClr val="55575A"/>
                </a:solidFill>
                <a:latin typeface="Hubot Sans Bold" pitchFamily="34" charset="0"/>
                <a:ea typeface="Hubot Sans Bold" pitchFamily="34" charset="-122"/>
                <a:cs typeface="Hubot Sans Bold" pitchFamily="34" charset="-120"/>
              </a:rPr>
              <a:t>14:00 — DELAYED CRISIS MEETING</a:t>
            </a:r>
            <a:endParaRPr lang="en-US" sz="1250" dirty="0"/>
          </a:p>
        </p:txBody>
      </p:sp>
      <p:sp>
        <p:nvSpPr>
          <p:cNvPr id="52" name="Text 50"/>
          <p:cNvSpPr/>
          <p:nvPr/>
        </p:nvSpPr>
        <p:spPr>
          <a:xfrm>
            <a:off x="9951244" y="7145298"/>
            <a:ext cx="3974544" cy="330041"/>
          </a:xfrm>
          <a:prstGeom prst="rect">
            <a:avLst/>
          </a:prstGeom>
          <a:noFill/>
          <a:ln/>
        </p:spPr>
        <p:txBody>
          <a:bodyPr wrap="square" lIns="0" tIns="0" rIns="0" bIns="0" rtlCol="0" anchor="t"/>
          <a:lstStyle/>
          <a:p>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The CEO finally meets with leadership. Critically, the Head of Corp Comms is </a:t>
            </a:r>
            <a:pPr algn="l" indent="0" marL="0">
              <a:lnSpc>
                <a:spcPts val="1250"/>
              </a:lnSpc>
              <a:buNone/>
            </a:pPr>
            <a:r>
              <a:rPr lang="en-US" sz="1000" b="1" dirty="0">
                <a:solidFill>
                  <a:srgbClr val="55575A"/>
                </a:solidFill>
                <a:latin typeface="Roboto Condensed" pitchFamily="34" charset="0"/>
                <a:ea typeface="Roboto Condensed" pitchFamily="34" charset="-122"/>
                <a:cs typeface="Roboto Condensed" pitchFamily="34" charset="-120"/>
              </a:rPr>
              <a:t>still</a:t>
            </a:r>
            <a:pPr algn="l" indent="0" marL="0">
              <a:lnSpc>
                <a:spcPts val="1250"/>
              </a:lnSpc>
              <a:buNone/>
            </a:pPr>
            <a:r>
              <a:rPr lang="en-US" sz="1000" dirty="0">
                <a:solidFill>
                  <a:srgbClr val="55575A"/>
                </a:solidFill>
                <a:latin typeface="Roboto Condensed" pitchFamily="34" charset="0"/>
                <a:ea typeface="Roboto Condensed" pitchFamily="34" charset="-122"/>
                <a:cs typeface="Roboto Condensed" pitchFamily="34" charset="-120"/>
              </a:rPr>
              <a:t> not invited. The meeting ends with no public statement.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2026-02-24T13:31:52Z</dcterms:created>
  <dcterms:modified xsi:type="dcterms:W3CDTF">2026-02-24T13:31:52Z</dcterms:modified>
</cp:coreProperties>
</file>